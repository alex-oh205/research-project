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94660"/>
  </p:normalViewPr>
  <p:slideViewPr>
    <p:cSldViewPr snapToGrid="0">
      <p:cViewPr>
        <p:scale>
          <a:sx n="100" d="100"/>
          <a:sy n="100" d="100"/>
        </p:scale>
        <p:origin x="228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FC458-341A-C84F-2E7A-F5DAC300D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D98A2-99A4-380F-C261-4B3BCB0F0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CE7F5-16C0-AE0D-9253-0E3F6656C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ED029-CE02-F0F1-A858-D34325BF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B8A60-5168-0D2C-D30A-7AEAAC90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4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6A96-B182-11F4-146B-990F3E29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BCA68-068C-BAA6-DEB6-F7ADE36B5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57C95-3CFE-B07B-D7B9-43DAAD00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DAF3B-37CD-F08F-2E16-4021B32C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AF233-CC50-B24C-042D-00D3082FE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4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3F0A-8CC3-9496-3674-95BD550F4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1847E-3624-BFEB-74ED-562228D19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F593B-149A-AABA-1951-35CA9B19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50EF5-225A-1435-374D-588E39642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0CC72-9CC3-8490-4A1D-5222245C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3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2DD5-F886-B42E-A0A0-3D34BCD6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C577-67CE-F7BB-A768-CBB464070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377F4-0934-0C5D-817E-144724EDA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BA127-7240-533C-1923-0A72A2F4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49C58-6C04-B795-88D0-A690DEF9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E96E8-3C07-C865-731A-D56B3F9F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0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85A5-F1D9-96F1-50EC-546F3E290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2E2CA-C317-2AF3-DD37-8A24E91DD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B664C-F178-6E59-0453-745F280A5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2DB83-462E-2421-CF29-3CD853CAA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A1C38-5474-6572-FF1C-4D39519A9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F2F0F5-E9EC-797F-9328-DED914D5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EA15E9-ED2F-AB74-69E0-0FF43333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6FE1E-BD1E-FE14-386B-F52A6717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0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61156-2FCD-A8E8-0A24-560270F3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9AF0A-7E43-1F76-6F16-BC71D0C0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E385F-090A-B2C4-C89B-B7C0A3A7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9374E-7ADA-5DC9-3417-2645C9A1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36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DF0D9-60B8-A7A7-31AB-6C620A6A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8FDA8-4249-1E4E-4DB0-244C76EC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95E61-4952-CE5E-8F0E-12673C0E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59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2A0F-67F9-5828-55A5-CA62BCBBC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7C0E2-0D13-50BF-BF92-65C3E64E5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B496B-E3C4-CFB5-2A03-67143A405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6EA2B-23FD-BFDB-7AC2-6156E2C69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66BF6-FFD6-D4F7-E929-152DEF67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4FF34-1210-13DD-B323-3B086A91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9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0A7C-F783-CBC5-CCFD-9978A42A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26A62C-BA79-980B-0B2C-D5383759C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C01D1-1273-2177-A32E-494555E1F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41CFE-4B2A-EAAD-89D8-ED215041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60CDF-2D9C-3F40-CE6D-1B98F998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AB00A-51DD-2796-DEB5-456ACCB6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1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5532-E2E0-CA60-04C6-CC7872A7C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7B473-8124-3D71-A66B-434A8B41B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C2DCF-F92F-942A-93FC-3D8AF12F8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32E88-F8F2-769D-C644-5A4ED7EC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D4C41-A359-A29F-2102-85DA4F96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99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DBDC7F-80B9-87DC-2F34-B8783B543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FB1D-E8F3-93A5-F9B8-9E11B9F2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C3F86-6BFD-1022-90D1-12815042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9F4BF-26E5-3D2C-A854-AFF210F3D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B932D-CD78-C871-542B-344A447B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1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E313A-2D6D-0F70-01B3-F9789492B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D015C-B2AD-82DB-3FC2-20249576C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F8967-2C75-EBC8-6789-F29A24BE3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BBD3A-CDDE-45D0-ADCD-12716BECCACF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6193E-61E2-1C11-B322-B4900DF48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6B7A1-3EB1-E555-97DC-BAFA1D0DE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5D466-5B00-4FAC-9BAC-7FC698EA9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4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40AAF-0915-4EE5-0337-62BB86DABA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ECAA7-F947-8276-DC4D-572AE1F597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599E20-EDFA-07C7-7836-9441A86B6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850" y="0"/>
            <a:ext cx="1242300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B05EA7-8F70-85A1-33D3-794BA73FFAAC}"/>
              </a:ext>
            </a:extLst>
          </p:cNvPr>
          <p:cNvCxnSpPr/>
          <p:nvPr/>
        </p:nvCxnSpPr>
        <p:spPr>
          <a:xfrm>
            <a:off x="6499090" y="51442"/>
            <a:ext cx="0" cy="7101191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115652-864D-A84A-4642-1CB144F805F2}"/>
              </a:ext>
            </a:extLst>
          </p:cNvPr>
          <p:cNvCxnSpPr/>
          <p:nvPr/>
        </p:nvCxnSpPr>
        <p:spPr>
          <a:xfrm>
            <a:off x="5822156" y="1831181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96D3BA-5CD9-6729-C825-15B13D77B820}"/>
              </a:ext>
            </a:extLst>
          </p:cNvPr>
          <p:cNvCxnSpPr/>
          <p:nvPr/>
        </p:nvCxnSpPr>
        <p:spPr>
          <a:xfrm>
            <a:off x="5822156" y="1928808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483B05-4C78-49BD-2DFD-5A14B79C454D}"/>
              </a:ext>
            </a:extLst>
          </p:cNvPr>
          <p:cNvCxnSpPr/>
          <p:nvPr/>
        </p:nvCxnSpPr>
        <p:spPr>
          <a:xfrm>
            <a:off x="5826916" y="2024060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D0554E-8A5C-D819-99CE-E29076980EB8}"/>
              </a:ext>
            </a:extLst>
          </p:cNvPr>
          <p:cNvCxnSpPr/>
          <p:nvPr/>
        </p:nvCxnSpPr>
        <p:spPr>
          <a:xfrm>
            <a:off x="5824531" y="1878803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E08144-E04B-87A1-5AF5-07BE25384FB8}"/>
              </a:ext>
            </a:extLst>
          </p:cNvPr>
          <p:cNvCxnSpPr/>
          <p:nvPr/>
        </p:nvCxnSpPr>
        <p:spPr>
          <a:xfrm>
            <a:off x="6241910" y="203842"/>
            <a:ext cx="0" cy="7101191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1C0C17-0241-5AA8-9FC9-CD8648503B97}"/>
              </a:ext>
            </a:extLst>
          </p:cNvPr>
          <p:cNvCxnSpPr/>
          <p:nvPr/>
        </p:nvCxnSpPr>
        <p:spPr>
          <a:xfrm>
            <a:off x="5822156" y="1640676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4A38DA8-CE9A-6BC6-EE29-CC27F0604833}"/>
              </a:ext>
            </a:extLst>
          </p:cNvPr>
          <p:cNvCxnSpPr/>
          <p:nvPr/>
        </p:nvCxnSpPr>
        <p:spPr>
          <a:xfrm>
            <a:off x="5822156" y="1738303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0DE0546-CDAF-7DA4-9C6B-0D10301215AF}"/>
              </a:ext>
            </a:extLst>
          </p:cNvPr>
          <p:cNvCxnSpPr/>
          <p:nvPr/>
        </p:nvCxnSpPr>
        <p:spPr>
          <a:xfrm>
            <a:off x="5824531" y="1688298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7EFD9CA-8224-AFC7-41DC-289AB9983F94}"/>
              </a:ext>
            </a:extLst>
          </p:cNvPr>
          <p:cNvCxnSpPr/>
          <p:nvPr/>
        </p:nvCxnSpPr>
        <p:spPr>
          <a:xfrm>
            <a:off x="5822156" y="1735925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E6E18BA-077F-8B4A-6FC6-C383D6BC0707}"/>
              </a:ext>
            </a:extLst>
          </p:cNvPr>
          <p:cNvCxnSpPr/>
          <p:nvPr/>
        </p:nvCxnSpPr>
        <p:spPr>
          <a:xfrm>
            <a:off x="5822156" y="1833552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D2FC170-8AB0-DF23-654F-798E85BC1A09}"/>
              </a:ext>
            </a:extLst>
          </p:cNvPr>
          <p:cNvCxnSpPr/>
          <p:nvPr/>
        </p:nvCxnSpPr>
        <p:spPr>
          <a:xfrm>
            <a:off x="5824531" y="1783547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614A401-0B35-FDD5-C676-C2414E73D2F8}"/>
              </a:ext>
            </a:extLst>
          </p:cNvPr>
          <p:cNvCxnSpPr/>
          <p:nvPr/>
        </p:nvCxnSpPr>
        <p:spPr>
          <a:xfrm>
            <a:off x="5831680" y="1928808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756C4D3-B25A-184A-649C-7860FC368413}"/>
              </a:ext>
            </a:extLst>
          </p:cNvPr>
          <p:cNvCxnSpPr/>
          <p:nvPr/>
        </p:nvCxnSpPr>
        <p:spPr>
          <a:xfrm>
            <a:off x="5831680" y="2026435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D374EE9-4317-E18E-530E-6B5BE3C260C5}"/>
              </a:ext>
            </a:extLst>
          </p:cNvPr>
          <p:cNvCxnSpPr/>
          <p:nvPr/>
        </p:nvCxnSpPr>
        <p:spPr>
          <a:xfrm>
            <a:off x="5834055" y="1976430"/>
            <a:ext cx="959644" cy="0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BA6ED6-96B2-D489-61F2-214AE0A83C98}"/>
              </a:ext>
            </a:extLst>
          </p:cNvPr>
          <p:cNvCxnSpPr/>
          <p:nvPr/>
        </p:nvCxnSpPr>
        <p:spPr>
          <a:xfrm>
            <a:off x="6344306" y="260991"/>
            <a:ext cx="0" cy="7101191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659B27D-0AFA-2236-FB55-0547771D6889}"/>
              </a:ext>
            </a:extLst>
          </p:cNvPr>
          <p:cNvCxnSpPr/>
          <p:nvPr/>
        </p:nvCxnSpPr>
        <p:spPr>
          <a:xfrm>
            <a:off x="6294296" y="318140"/>
            <a:ext cx="0" cy="7101191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8E83BB5-5835-F446-767C-896B89B36C50}"/>
              </a:ext>
            </a:extLst>
          </p:cNvPr>
          <p:cNvCxnSpPr/>
          <p:nvPr/>
        </p:nvCxnSpPr>
        <p:spPr>
          <a:xfrm>
            <a:off x="6396693" y="375289"/>
            <a:ext cx="0" cy="7101191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C170BC2-37A7-49F2-F3FC-A312C4826764}"/>
              </a:ext>
            </a:extLst>
          </p:cNvPr>
          <p:cNvCxnSpPr/>
          <p:nvPr/>
        </p:nvCxnSpPr>
        <p:spPr>
          <a:xfrm>
            <a:off x="6079981" y="432438"/>
            <a:ext cx="0" cy="7101191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1A34706-6E3D-72C3-6544-D313B693F6BA}"/>
              </a:ext>
            </a:extLst>
          </p:cNvPr>
          <p:cNvCxnSpPr/>
          <p:nvPr/>
        </p:nvCxnSpPr>
        <p:spPr>
          <a:xfrm>
            <a:off x="6132374" y="489587"/>
            <a:ext cx="0" cy="7101191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C11B518-CB9A-7630-3C48-39D33D71B009}"/>
              </a:ext>
            </a:extLst>
          </p:cNvPr>
          <p:cNvCxnSpPr/>
          <p:nvPr/>
        </p:nvCxnSpPr>
        <p:spPr>
          <a:xfrm>
            <a:off x="6027599" y="546736"/>
            <a:ext cx="0" cy="7101191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72D1002-6C8C-48CB-CCD0-F2CBA6621C1F}"/>
              </a:ext>
            </a:extLst>
          </p:cNvPr>
          <p:cNvCxnSpPr/>
          <p:nvPr/>
        </p:nvCxnSpPr>
        <p:spPr>
          <a:xfrm>
            <a:off x="6449081" y="203842"/>
            <a:ext cx="0" cy="7101191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B1B89FB-29A9-F159-3C1F-EC022D96BD51}"/>
              </a:ext>
            </a:extLst>
          </p:cNvPr>
          <p:cNvCxnSpPr/>
          <p:nvPr/>
        </p:nvCxnSpPr>
        <p:spPr>
          <a:xfrm>
            <a:off x="6187149" y="282422"/>
            <a:ext cx="0" cy="7101191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F0362AB-C060-4C79-72D8-1D878D0F07CE}"/>
              </a:ext>
            </a:extLst>
          </p:cNvPr>
          <p:cNvSpPr txBox="1"/>
          <p:nvPr/>
        </p:nvSpPr>
        <p:spPr>
          <a:xfrm>
            <a:off x="6408378" y="1414220"/>
            <a:ext cx="5052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100 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1BE9C8-4316-869D-E7F9-7407980DF66A}"/>
              </a:ext>
            </a:extLst>
          </p:cNvPr>
          <p:cNvSpPr txBox="1"/>
          <p:nvPr/>
        </p:nvSpPr>
        <p:spPr>
          <a:xfrm>
            <a:off x="5539335" y="1710320"/>
            <a:ext cx="365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-18</a:t>
            </a:r>
          </a:p>
        </p:txBody>
      </p:sp>
    </p:spTree>
    <p:extLst>
      <p:ext uri="{BB962C8B-B14F-4D97-AF65-F5344CB8AC3E}">
        <p14:creationId xmlns:p14="http://schemas.microsoft.com/office/powerpoint/2010/main" val="2607599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E925-9CAA-5866-208A-16548FDD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Alumel</a:t>
            </a:r>
            <a:r>
              <a:rPr lang="en-US" dirty="0"/>
              <a:t> </a:t>
            </a:r>
            <a:r>
              <a:rPr lang="en-US" dirty="0" err="1"/>
              <a:t>Seebeck</a:t>
            </a:r>
            <a:r>
              <a:rPr lang="en-US" dirty="0"/>
              <a:t> Coefficient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55B1252-A0EB-0512-CA15-F03719BC1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5776350"/>
              </p:ext>
            </p:extLst>
          </p:nvPr>
        </p:nvGraphicFramePr>
        <p:xfrm>
          <a:off x="419102" y="4579773"/>
          <a:ext cx="1143000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609">
                  <a:extLst>
                    <a:ext uri="{9D8B030D-6E8A-4147-A177-3AD203B41FA5}">
                      <a16:colId xmlns:a16="http://schemas.microsoft.com/office/drawing/2014/main" val="4035934283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1650892517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3982507427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289666544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1043572699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3304333081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984753445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3844075104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2102248394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3892037877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845399099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1331785756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r>
                        <a:rPr lang="en-US" dirty="0" smtClean="0"/>
                        <a:t>T(C)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113985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r>
                        <a:rPr lang="en-US" dirty="0" smtClean="0"/>
                        <a:t>S(</a:t>
                      </a:r>
                      <a:r>
                        <a:rPr lang="en-US" dirty="0" err="1" smtClean="0"/>
                        <a:t>uV</a:t>
                      </a:r>
                      <a:r>
                        <a:rPr lang="en-US" dirty="0" smtClean="0"/>
                        <a:t>/K)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-17.6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87331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43FF059-E0C2-CACC-C08A-8973145D4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617" y="1560666"/>
            <a:ext cx="4030728" cy="27741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DA8AD6-403F-D477-7F77-801DEEE63FEF}"/>
              </a:ext>
            </a:extLst>
          </p:cNvPr>
          <p:cNvSpPr txBox="1"/>
          <p:nvPr/>
        </p:nvSpPr>
        <p:spPr>
          <a:xfrm>
            <a:off x="838200" y="41959"/>
            <a:ext cx="7912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Handbook of Temperature Measurement Vol.3, </a:t>
            </a:r>
          </a:p>
          <a:p>
            <a:r>
              <a:rPr lang="en-US" dirty="0"/>
              <a:t>Theory and Practice of Thermoelectric Thermometry, Robin E. Bentley, Page 31</a:t>
            </a:r>
          </a:p>
        </p:txBody>
      </p:sp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555B1252-A0EB-0512-CA15-F03719BC1D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172451"/>
              </p:ext>
            </p:extLst>
          </p:nvPr>
        </p:nvGraphicFramePr>
        <p:xfrm>
          <a:off x="419102" y="5556270"/>
          <a:ext cx="1143000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609">
                  <a:extLst>
                    <a:ext uri="{9D8B030D-6E8A-4147-A177-3AD203B41FA5}">
                      <a16:colId xmlns:a16="http://schemas.microsoft.com/office/drawing/2014/main" val="4035934283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1650892517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3982507427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289666544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1043572699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3304333081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984753445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3844075104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2102248394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3892037877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845399099"/>
                    </a:ext>
                  </a:extLst>
                </a:gridCol>
                <a:gridCol w="968763">
                  <a:extLst>
                    <a:ext uri="{9D8B030D-6E8A-4147-A177-3AD203B41FA5}">
                      <a16:colId xmlns:a16="http://schemas.microsoft.com/office/drawing/2014/main" val="1331785756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113985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smtClean="0"/>
                        <a:t>17.9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smtClean="0"/>
                        <a:t>18.1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smtClean="0"/>
                        <a:t>18.5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smtClean="0"/>
                        <a:t>18.1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smtClean="0"/>
                        <a:t>17.9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smtClean="0"/>
                        <a:t>17.7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smtClean="0"/>
                        <a:t>17.5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87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322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945F-3097-4B14-D4A6-ECF355DF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K </a:t>
            </a:r>
            <a:r>
              <a:rPr lang="en-US" dirty="0" err="1"/>
              <a:t>Seebeck</a:t>
            </a:r>
            <a:r>
              <a:rPr lang="en-US" dirty="0"/>
              <a:t> 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FA6CF-6F79-213B-DCE1-670C8FC91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Calculated </a:t>
            </a:r>
            <a:r>
              <a:rPr lang="en-US" dirty="0" smtClean="0"/>
              <a:t>from the above book, based on hot </a:t>
            </a:r>
            <a:r>
              <a:rPr lang="en-US" dirty="0"/>
              <a:t>junction emf relative to cold junction at </a:t>
            </a:r>
            <a:r>
              <a:rPr lang="en-US" dirty="0" smtClean="0"/>
              <a:t>0C </a:t>
            </a:r>
            <a:endParaRPr lang="en-US" dirty="0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062FBFC9-5291-1EB7-FA19-2266149B05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171982"/>
              </p:ext>
            </p:extLst>
          </p:nvPr>
        </p:nvGraphicFramePr>
        <p:xfrm>
          <a:off x="647705" y="3140710"/>
          <a:ext cx="1039903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570">
                  <a:extLst>
                    <a:ext uri="{9D8B030D-6E8A-4147-A177-3AD203B41FA5}">
                      <a16:colId xmlns:a16="http://schemas.microsoft.com/office/drawing/2014/main" val="4035934283"/>
                    </a:ext>
                  </a:extLst>
                </a:gridCol>
                <a:gridCol w="922746">
                  <a:extLst>
                    <a:ext uri="{9D8B030D-6E8A-4147-A177-3AD203B41FA5}">
                      <a16:colId xmlns:a16="http://schemas.microsoft.com/office/drawing/2014/main" val="3982507427"/>
                    </a:ext>
                  </a:extLst>
                </a:gridCol>
                <a:gridCol w="922746">
                  <a:extLst>
                    <a:ext uri="{9D8B030D-6E8A-4147-A177-3AD203B41FA5}">
                      <a16:colId xmlns:a16="http://schemas.microsoft.com/office/drawing/2014/main" val="289666544"/>
                    </a:ext>
                  </a:extLst>
                </a:gridCol>
                <a:gridCol w="922746">
                  <a:extLst>
                    <a:ext uri="{9D8B030D-6E8A-4147-A177-3AD203B41FA5}">
                      <a16:colId xmlns:a16="http://schemas.microsoft.com/office/drawing/2014/main" val="1043572699"/>
                    </a:ext>
                  </a:extLst>
                </a:gridCol>
                <a:gridCol w="922746">
                  <a:extLst>
                    <a:ext uri="{9D8B030D-6E8A-4147-A177-3AD203B41FA5}">
                      <a16:colId xmlns:a16="http://schemas.microsoft.com/office/drawing/2014/main" val="3304333081"/>
                    </a:ext>
                  </a:extLst>
                </a:gridCol>
                <a:gridCol w="922746">
                  <a:extLst>
                    <a:ext uri="{9D8B030D-6E8A-4147-A177-3AD203B41FA5}">
                      <a16:colId xmlns:a16="http://schemas.microsoft.com/office/drawing/2014/main" val="984753445"/>
                    </a:ext>
                  </a:extLst>
                </a:gridCol>
                <a:gridCol w="922746">
                  <a:extLst>
                    <a:ext uri="{9D8B030D-6E8A-4147-A177-3AD203B41FA5}">
                      <a16:colId xmlns:a16="http://schemas.microsoft.com/office/drawing/2014/main" val="3844075104"/>
                    </a:ext>
                  </a:extLst>
                </a:gridCol>
                <a:gridCol w="922746">
                  <a:extLst>
                    <a:ext uri="{9D8B030D-6E8A-4147-A177-3AD203B41FA5}">
                      <a16:colId xmlns:a16="http://schemas.microsoft.com/office/drawing/2014/main" val="2102248394"/>
                    </a:ext>
                  </a:extLst>
                </a:gridCol>
                <a:gridCol w="922746">
                  <a:extLst>
                    <a:ext uri="{9D8B030D-6E8A-4147-A177-3AD203B41FA5}">
                      <a16:colId xmlns:a16="http://schemas.microsoft.com/office/drawing/2014/main" val="3892037877"/>
                    </a:ext>
                  </a:extLst>
                </a:gridCol>
                <a:gridCol w="922746">
                  <a:extLst>
                    <a:ext uri="{9D8B030D-6E8A-4147-A177-3AD203B41FA5}">
                      <a16:colId xmlns:a16="http://schemas.microsoft.com/office/drawing/2014/main" val="845399099"/>
                    </a:ext>
                  </a:extLst>
                </a:gridCol>
                <a:gridCol w="922746">
                  <a:extLst>
                    <a:ext uri="{9D8B030D-6E8A-4147-A177-3AD203B41FA5}">
                      <a16:colId xmlns:a16="http://schemas.microsoft.com/office/drawing/2014/main" val="1331785756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r>
                        <a:rPr lang="en-US" dirty="0" smtClean="0"/>
                        <a:t>T (C)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113985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r>
                        <a:rPr lang="en-US" dirty="0" smtClean="0"/>
                        <a:t>S(</a:t>
                      </a:r>
                      <a:r>
                        <a:rPr lang="en-US" dirty="0" err="1" smtClean="0"/>
                        <a:t>uV</a:t>
                      </a:r>
                      <a:r>
                        <a:rPr lang="en-US" dirty="0" smtClean="0"/>
                        <a:t>/K)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8733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4DA8AD6-403F-D477-7F77-801DEEE63FEF}"/>
              </a:ext>
            </a:extLst>
          </p:cNvPr>
          <p:cNvSpPr txBox="1"/>
          <p:nvPr/>
        </p:nvSpPr>
        <p:spPr>
          <a:xfrm>
            <a:off x="838200" y="108634"/>
            <a:ext cx="10799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Handbook of Temperature Measurement Vol.3, </a:t>
            </a:r>
          </a:p>
          <a:p>
            <a:r>
              <a:rPr lang="en-US" dirty="0"/>
              <a:t>Theory and Practice of Thermoelectric Thermometry, Robin E. Bentley, </a:t>
            </a:r>
            <a:r>
              <a:rPr lang="en-US" dirty="0" smtClean="0"/>
              <a:t>Appendix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524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165</Words>
  <Application>Microsoft Office PowerPoint</Application>
  <PresentationFormat>Widescreen</PresentationFormat>
  <Paragraphs>79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Alumel Seebeck Coefficient</vt:lpstr>
      <vt:lpstr>Type K Seebeck coefficients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Seongshik Oh</dc:creator>
  <cp:lastModifiedBy>seongshik oh</cp:lastModifiedBy>
  <cp:revision>11</cp:revision>
  <dcterms:created xsi:type="dcterms:W3CDTF">2024-07-24T12:54:32Z</dcterms:created>
  <dcterms:modified xsi:type="dcterms:W3CDTF">2024-07-25T15:00:35Z</dcterms:modified>
</cp:coreProperties>
</file>